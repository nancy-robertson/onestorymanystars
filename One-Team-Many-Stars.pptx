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92000"/>
  <p:notesSz cx="6858000" cy="9144000"/>
  <p:embeddedFontLst>
    <p:embeddedFont>
      <p:font typeface="Play"/>
      <p:regular r:id="rId13"/>
      <p:bold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jxT69Novn7/ik0wt+QtRWD20Q9/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Play-regular.fntdata"/><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customschemas.google.com/relationships/presentationmetadata" Target="metadata"/><Relationship Id="rId14" Type="http://schemas.openxmlformats.org/officeDocument/2006/relationships/font" Target="fonts/Play-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6" name="Google Shape;26;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8"/>
          <p:cNvSpPr/>
          <p:nvPr>
            <p:ph idx="2" type="pic"/>
          </p:nvPr>
        </p:nvSpPr>
        <p:spPr>
          <a:xfrm>
            <a:off x="5183188" y="987425"/>
            <a:ext cx="6172200" cy="4873625"/>
          </a:xfrm>
          <a:prstGeom prst="rect">
            <a:avLst/>
          </a:prstGeom>
          <a:noFill/>
          <a:ln>
            <a:noFill/>
          </a:ln>
        </p:spPr>
      </p:sp>
      <p:sp>
        <p:nvSpPr>
          <p:cNvPr id="64" name="Google Shape;64;p1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publuu.com/flip-book/982662/2162313" TargetMode="Externa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github.com/Nodlik/StPageFlip" TargetMode="External"/><Relationship Id="rId4" Type="http://schemas.openxmlformats.org/officeDocument/2006/relationships/hyperlink" Target="https://pages.github.com/" TargetMode="External"/><Relationship Id="rId5" Type="http://schemas.openxmlformats.org/officeDocument/2006/relationships/hyperlink" Target="https://github.com/Nancy-Robertson/OneStoryManyStars" TargetMode="External"/><Relationship Id="rId6" Type="http://schemas.openxmlformats.org/officeDocument/2006/relationships/image" Target="../media/image3.png"/><Relationship Id="rId7"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870857" y="901248"/>
            <a:ext cx="9144000" cy="101713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Play"/>
              <a:buNone/>
            </a:pPr>
            <a:r>
              <a:rPr lang="en-CA"/>
              <a:t>One Team, Many Stars</a:t>
            </a:r>
            <a:endParaRPr/>
          </a:p>
        </p:txBody>
      </p:sp>
      <p:sp>
        <p:nvSpPr>
          <p:cNvPr id="85" name="Google Shape;85;p1"/>
          <p:cNvSpPr txBox="1"/>
          <p:nvPr>
            <p:ph idx="1" type="subTitle"/>
          </p:nvPr>
        </p:nvSpPr>
        <p:spPr>
          <a:xfrm>
            <a:off x="990600" y="1918382"/>
            <a:ext cx="9144000" cy="1655762"/>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10000"/>
              </a:lnSpc>
              <a:spcBef>
                <a:spcPts val="0"/>
              </a:spcBef>
              <a:spcAft>
                <a:spcPts val="0"/>
              </a:spcAft>
              <a:buClr>
                <a:schemeClr val="dk1"/>
              </a:buClr>
              <a:buSzPct val="100000"/>
              <a:buNone/>
            </a:pPr>
            <a:r>
              <a:rPr lang="en-CA"/>
              <a:t>Mia Koriakin (Team lead)</a:t>
            </a:r>
            <a:endParaRPr/>
          </a:p>
          <a:p>
            <a:pPr indent="0" lvl="0" marL="0" rtl="0" algn="l">
              <a:lnSpc>
                <a:spcPct val="110000"/>
              </a:lnSpc>
              <a:spcBef>
                <a:spcPts val="1000"/>
              </a:spcBef>
              <a:spcAft>
                <a:spcPts val="0"/>
              </a:spcAft>
              <a:buClr>
                <a:schemeClr val="dk1"/>
              </a:buClr>
              <a:buSzPct val="100000"/>
              <a:buNone/>
            </a:pPr>
            <a:r>
              <a:rPr lang="en-CA"/>
              <a:t>Nancy Robertson</a:t>
            </a:r>
            <a:endParaRPr/>
          </a:p>
          <a:p>
            <a:pPr indent="0" lvl="0" marL="0" rtl="0" algn="l">
              <a:lnSpc>
                <a:spcPct val="110000"/>
              </a:lnSpc>
              <a:spcBef>
                <a:spcPts val="1000"/>
              </a:spcBef>
              <a:spcAft>
                <a:spcPts val="0"/>
              </a:spcAft>
              <a:buClr>
                <a:schemeClr val="dk1"/>
              </a:buClr>
              <a:buSzPct val="100000"/>
              <a:buNone/>
            </a:pPr>
            <a:r>
              <a:rPr lang="en-CA"/>
              <a:t>Sarah Packowski</a:t>
            </a:r>
            <a:endParaRPr/>
          </a:p>
          <a:p>
            <a:pPr indent="0" lvl="0" marL="0" rtl="0" algn="l">
              <a:lnSpc>
                <a:spcPct val="110000"/>
              </a:lnSpc>
              <a:spcBef>
                <a:spcPts val="1000"/>
              </a:spcBef>
              <a:spcAft>
                <a:spcPts val="0"/>
              </a:spcAft>
              <a:buClr>
                <a:schemeClr val="dk1"/>
              </a:buClr>
              <a:buSzPct val="100000"/>
              <a:buNone/>
            </a:pPr>
            <a:r>
              <a:rPr lang="en-CA"/>
              <a:t>Bradley Raymond Webster</a:t>
            </a:r>
            <a:endParaRPr/>
          </a:p>
          <a:p>
            <a:pPr indent="0" lvl="0" marL="0" rtl="0" algn="ctr">
              <a:lnSpc>
                <a:spcPct val="90000"/>
              </a:lnSpc>
              <a:spcBef>
                <a:spcPts val="1000"/>
              </a:spcBef>
              <a:spcAft>
                <a:spcPts val="0"/>
              </a:spcAft>
              <a:buClr>
                <a:schemeClr val="dk1"/>
              </a:buClr>
              <a:buSzPct val="100000"/>
              <a:buNone/>
            </a:pPr>
            <a:r>
              <a:t/>
            </a:r>
            <a:endParaRPr b="1"/>
          </a:p>
          <a:p>
            <a:pPr indent="0" lvl="0" marL="0" rtl="0" algn="ctr">
              <a:lnSpc>
                <a:spcPct val="90000"/>
              </a:lnSpc>
              <a:spcBef>
                <a:spcPts val="1000"/>
              </a:spcBef>
              <a:spcAft>
                <a:spcPts val="0"/>
              </a:spcAft>
              <a:buClr>
                <a:schemeClr val="dk1"/>
              </a:buClr>
              <a:buSzPct val="100000"/>
              <a:buNone/>
            </a:pPr>
            <a:r>
              <a:t/>
            </a:r>
            <a:endParaRPr/>
          </a:p>
        </p:txBody>
      </p:sp>
      <p:pic>
        <p:nvPicPr>
          <p:cNvPr id="86" name="Google Shape;86;p1"/>
          <p:cNvPicPr preferRelativeResize="0"/>
          <p:nvPr/>
        </p:nvPicPr>
        <p:blipFill rotWithShape="1">
          <a:blip r:embed="rId3">
            <a:alphaModFix amt="65000"/>
          </a:blip>
          <a:srcRect b="0" l="0" r="0" t="0"/>
          <a:stretch/>
        </p:blipFill>
        <p:spPr>
          <a:xfrm>
            <a:off x="-889038" y="4178149"/>
            <a:ext cx="13211667" cy="26798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CA"/>
              <a:t>Summary</a:t>
            </a:r>
            <a:endParaRPr/>
          </a:p>
        </p:txBody>
      </p:sp>
      <p:sp>
        <p:nvSpPr>
          <p:cNvPr id="92" name="Google Shape;92;p2"/>
          <p:cNvSpPr txBox="1"/>
          <p:nvPr>
            <p:ph idx="1" type="body"/>
          </p:nvPr>
        </p:nvSpPr>
        <p:spPr>
          <a:xfrm>
            <a:off x="838201" y="1825625"/>
            <a:ext cx="5413272" cy="4553404"/>
          </a:xfrm>
          <a:prstGeom prst="rect">
            <a:avLst/>
          </a:prstGeom>
          <a:noFill/>
          <a:ln>
            <a:noFill/>
          </a:ln>
        </p:spPr>
        <p:txBody>
          <a:bodyPr anchorCtr="0" anchor="t" bIns="45700" lIns="91425" spcFirstLastPara="1" rIns="91425" wrap="square" tIns="45700">
            <a:normAutofit/>
          </a:bodyPr>
          <a:lstStyle/>
          <a:p>
            <a:pPr indent="0" lvl="0" marL="0" rtl="0" algn="l">
              <a:lnSpc>
                <a:spcPct val="125000"/>
              </a:lnSpc>
              <a:spcBef>
                <a:spcPts val="0"/>
              </a:spcBef>
              <a:spcAft>
                <a:spcPts val="0"/>
              </a:spcAft>
              <a:buClr>
                <a:schemeClr val="dk1"/>
              </a:buClr>
              <a:buSzPts val="2000"/>
              <a:buNone/>
            </a:pPr>
            <a:r>
              <a:rPr lang="en-CA" sz="2000"/>
              <a:t>We created a story about a 10 year old child, named Sunny, who is curious about space.  The story takes place one evening when geomagnetic storms are exceptionally active.</a:t>
            </a:r>
            <a:endParaRPr/>
          </a:p>
          <a:p>
            <a:pPr indent="0" lvl="0" marL="0" rtl="0" algn="l">
              <a:lnSpc>
                <a:spcPct val="125000"/>
              </a:lnSpc>
              <a:spcBef>
                <a:spcPts val="1000"/>
              </a:spcBef>
              <a:spcAft>
                <a:spcPts val="0"/>
              </a:spcAft>
              <a:buClr>
                <a:schemeClr val="dk1"/>
              </a:buClr>
              <a:buSzPts val="2000"/>
              <a:buNone/>
            </a:pPr>
            <a:r>
              <a:rPr lang="en-CA" sz="2000"/>
              <a:t>Sunny is thrust into adventure when a charged particle falls from the sky.  The two travel around the world looking for the particle’s friends.  Along the way, they meet people and animals who are impacted by the extreme space weather.</a:t>
            </a:r>
            <a:endParaRPr/>
          </a:p>
        </p:txBody>
      </p:sp>
      <p:pic>
        <p:nvPicPr>
          <p:cNvPr id="93" name="Google Shape;93;p2"/>
          <p:cNvPicPr preferRelativeResize="0"/>
          <p:nvPr/>
        </p:nvPicPr>
        <p:blipFill rotWithShape="1">
          <a:blip r:embed="rId3">
            <a:alphaModFix/>
          </a:blip>
          <a:srcRect b="0" l="0" r="0" t="30269"/>
          <a:stretch/>
        </p:blipFill>
        <p:spPr>
          <a:xfrm>
            <a:off x="6778727" y="2275114"/>
            <a:ext cx="5413271" cy="2307771"/>
          </a:xfrm>
          <a:prstGeom prst="rect">
            <a:avLst/>
          </a:prstGeom>
          <a:noFill/>
          <a:ln>
            <a:noFill/>
          </a:ln>
        </p:spPr>
      </p:pic>
      <p:pic>
        <p:nvPicPr>
          <p:cNvPr id="94" name="Google Shape;94;p2"/>
          <p:cNvPicPr preferRelativeResize="0"/>
          <p:nvPr/>
        </p:nvPicPr>
        <p:blipFill rotWithShape="1">
          <a:blip r:embed="rId4">
            <a:alphaModFix/>
          </a:blip>
          <a:srcRect b="14792" l="0" r="0" t="8975"/>
          <a:stretch/>
        </p:blipFill>
        <p:spPr>
          <a:xfrm>
            <a:off x="6778728" y="1"/>
            <a:ext cx="5413271" cy="2090056"/>
          </a:xfrm>
          <a:prstGeom prst="rect">
            <a:avLst/>
          </a:prstGeom>
          <a:noFill/>
          <a:ln>
            <a:noFill/>
          </a:ln>
        </p:spPr>
      </p:pic>
      <p:pic>
        <p:nvPicPr>
          <p:cNvPr id="95" name="Google Shape;95;p2"/>
          <p:cNvPicPr preferRelativeResize="0"/>
          <p:nvPr/>
        </p:nvPicPr>
        <p:blipFill rotWithShape="1">
          <a:blip r:embed="rId5">
            <a:alphaModFix/>
          </a:blip>
          <a:srcRect b="0" l="0" r="0" t="9239"/>
          <a:stretch/>
        </p:blipFill>
        <p:spPr>
          <a:xfrm>
            <a:off x="6778728" y="4754790"/>
            <a:ext cx="5413272" cy="210321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CA"/>
              <a:t>Published flipbook on publuu</a:t>
            </a:r>
            <a:endParaRPr/>
          </a:p>
        </p:txBody>
      </p:sp>
      <p:sp>
        <p:nvSpPr>
          <p:cNvPr id="101" name="Google Shape;101;p3"/>
          <p:cNvSpPr txBox="1"/>
          <p:nvPr>
            <p:ph idx="1" type="body"/>
          </p:nvPr>
        </p:nvSpPr>
        <p:spPr>
          <a:xfrm>
            <a:off x="838200" y="1811956"/>
            <a:ext cx="7764379" cy="61678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CA" u="sng">
                <a:solidFill>
                  <a:schemeClr val="hlink"/>
                </a:solidFill>
                <a:hlinkClick r:id="rId3"/>
              </a:rPr>
              <a:t>https://publuu.com/flip-book/982662/2162313</a:t>
            </a:r>
            <a:r>
              <a:rPr lang="en-CA"/>
              <a:t> </a:t>
            </a:r>
            <a:endParaRPr/>
          </a:p>
        </p:txBody>
      </p:sp>
      <p:pic>
        <p:nvPicPr>
          <p:cNvPr id="102" name="Google Shape;102;p3"/>
          <p:cNvPicPr preferRelativeResize="0"/>
          <p:nvPr/>
        </p:nvPicPr>
        <p:blipFill rotWithShape="1">
          <a:blip r:embed="rId4">
            <a:alphaModFix/>
          </a:blip>
          <a:srcRect b="0" l="0" r="0" t="0"/>
          <a:stretch/>
        </p:blipFill>
        <p:spPr>
          <a:xfrm>
            <a:off x="838200" y="2428742"/>
            <a:ext cx="7076660" cy="397369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4"/>
          <p:cNvSpPr txBox="1"/>
          <p:nvPr>
            <p:ph type="title"/>
          </p:nvPr>
        </p:nvSpPr>
        <p:spPr>
          <a:xfrm>
            <a:off x="3681250" y="253000"/>
            <a:ext cx="81189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i="1" lang="en-CA"/>
              <a:t>Free</a:t>
            </a:r>
            <a:r>
              <a:rPr i="1" lang="en-CA"/>
              <a:t> publishing solution</a:t>
            </a:r>
            <a:endParaRPr/>
          </a:p>
        </p:txBody>
      </p:sp>
      <p:sp>
        <p:nvSpPr>
          <p:cNvPr id="108" name="Google Shape;108;p4"/>
          <p:cNvSpPr txBox="1"/>
          <p:nvPr>
            <p:ph idx="1" type="body"/>
          </p:nvPr>
        </p:nvSpPr>
        <p:spPr>
          <a:xfrm>
            <a:off x="101900" y="1813075"/>
            <a:ext cx="5787900" cy="4851300"/>
          </a:xfrm>
          <a:prstGeom prst="rect">
            <a:avLst/>
          </a:prstGeom>
          <a:noFill/>
          <a:ln>
            <a:noFill/>
          </a:ln>
        </p:spPr>
        <p:txBody>
          <a:bodyPr anchorCtr="0" anchor="t" bIns="45700" lIns="91425" spcFirstLastPara="1" rIns="91425" wrap="square" tIns="45700">
            <a:normAutofit lnSpcReduction="20000"/>
          </a:bodyPr>
          <a:lstStyle/>
          <a:p>
            <a:pPr indent="-50800" lvl="0" marL="228600" rtl="0" algn="l">
              <a:lnSpc>
                <a:spcPct val="90000"/>
              </a:lnSpc>
              <a:spcBef>
                <a:spcPts val="0"/>
              </a:spcBef>
              <a:spcAft>
                <a:spcPts val="0"/>
              </a:spcAft>
              <a:buClr>
                <a:schemeClr val="dk1"/>
              </a:buClr>
              <a:buSzPts val="2800"/>
              <a:buNone/>
            </a:pPr>
            <a:r>
              <a:rPr b="1" lang="en-CA"/>
              <a:t>Educative</a:t>
            </a:r>
            <a:r>
              <a:rPr lang="en-CA"/>
              <a:t> material benefits from being hosted on a </a:t>
            </a:r>
            <a:r>
              <a:rPr b="1" lang="en-CA"/>
              <a:t>free</a:t>
            </a:r>
            <a:r>
              <a:rPr lang="en-CA"/>
              <a:t> and </a:t>
            </a:r>
            <a:r>
              <a:rPr b="1" lang="en-CA"/>
              <a:t>long-lasting</a:t>
            </a:r>
            <a:r>
              <a:rPr lang="en-CA"/>
              <a:t> platform.</a:t>
            </a:r>
            <a:endParaRPr/>
          </a:p>
          <a:p>
            <a:pPr indent="-50800" lvl="0" marL="228600" rtl="0" algn="l">
              <a:lnSpc>
                <a:spcPct val="90000"/>
              </a:lnSpc>
              <a:spcBef>
                <a:spcPts val="0"/>
              </a:spcBef>
              <a:spcAft>
                <a:spcPts val="0"/>
              </a:spcAft>
              <a:buClr>
                <a:schemeClr val="dk1"/>
              </a:buClr>
              <a:buSzPts val="2800"/>
              <a:buNone/>
            </a:pPr>
            <a:r>
              <a:rPr lang="en-CA"/>
              <a:t> </a:t>
            </a:r>
            <a:endParaRPr/>
          </a:p>
          <a:p>
            <a:pPr indent="-50800" lvl="0" marL="228600" rtl="0" algn="l">
              <a:lnSpc>
                <a:spcPct val="90000"/>
              </a:lnSpc>
              <a:spcBef>
                <a:spcPts val="0"/>
              </a:spcBef>
              <a:spcAft>
                <a:spcPts val="0"/>
              </a:spcAft>
              <a:buClr>
                <a:schemeClr val="dk1"/>
              </a:buClr>
              <a:buSzPts val="2800"/>
              <a:buNone/>
            </a:pPr>
            <a:r>
              <a:rPr lang="en-CA"/>
              <a:t>Commercial flipbook platforms are generally expensive.</a:t>
            </a:r>
            <a:endParaRPr/>
          </a:p>
          <a:p>
            <a:pPr indent="-50800" lvl="0" marL="228600" rtl="0" algn="l">
              <a:lnSpc>
                <a:spcPct val="90000"/>
              </a:lnSpc>
              <a:spcBef>
                <a:spcPts val="0"/>
              </a:spcBef>
              <a:spcAft>
                <a:spcPts val="0"/>
              </a:spcAft>
              <a:buClr>
                <a:schemeClr val="dk1"/>
              </a:buClr>
              <a:buSzPts val="2800"/>
              <a:buNone/>
            </a:pPr>
            <a:r>
              <a:t/>
            </a:r>
            <a:endParaRPr/>
          </a:p>
          <a:p>
            <a:pPr indent="-50800" lvl="0" marL="228600" rtl="0" algn="l">
              <a:lnSpc>
                <a:spcPct val="90000"/>
              </a:lnSpc>
              <a:spcBef>
                <a:spcPts val="0"/>
              </a:spcBef>
              <a:spcAft>
                <a:spcPts val="0"/>
              </a:spcAft>
              <a:buClr>
                <a:schemeClr val="dk1"/>
              </a:buClr>
              <a:buSzPts val="2800"/>
              <a:buNone/>
            </a:pPr>
            <a:r>
              <a:rPr lang="en-CA"/>
              <a:t>We adapted </a:t>
            </a:r>
            <a:r>
              <a:rPr lang="en-CA" u="sng">
                <a:solidFill>
                  <a:schemeClr val="hlink"/>
                </a:solidFill>
                <a:hlinkClick r:id="rId3"/>
              </a:rPr>
              <a:t>StPageFlip</a:t>
            </a:r>
            <a:r>
              <a:rPr lang="en-CA"/>
              <a:t> to host the story on </a:t>
            </a:r>
            <a:r>
              <a:rPr lang="en-CA" u="sng">
                <a:solidFill>
                  <a:schemeClr val="hlink"/>
                </a:solidFill>
                <a:hlinkClick r:id="rId4"/>
              </a:rPr>
              <a:t>GitHub Pages</a:t>
            </a:r>
            <a:r>
              <a:rPr lang="en-CA"/>
              <a:t> ensure </a:t>
            </a:r>
            <a:r>
              <a:rPr b="1" lang="en-CA"/>
              <a:t>long-term</a:t>
            </a:r>
            <a:r>
              <a:rPr lang="en-CA"/>
              <a:t> </a:t>
            </a:r>
            <a:r>
              <a:rPr b="1" lang="en-CA"/>
              <a:t>availability</a:t>
            </a:r>
            <a:r>
              <a:rPr lang="en-CA"/>
              <a:t>.</a:t>
            </a:r>
            <a:endParaRPr/>
          </a:p>
          <a:p>
            <a:pPr indent="-50800" lvl="0" marL="228600" rtl="0" algn="l">
              <a:lnSpc>
                <a:spcPct val="90000"/>
              </a:lnSpc>
              <a:spcBef>
                <a:spcPts val="0"/>
              </a:spcBef>
              <a:spcAft>
                <a:spcPts val="0"/>
              </a:spcAft>
              <a:buClr>
                <a:schemeClr val="dk1"/>
              </a:buClr>
              <a:buSzPts val="2800"/>
              <a:buNone/>
            </a:pPr>
            <a:r>
              <a:t/>
            </a:r>
            <a:endParaRPr/>
          </a:p>
          <a:p>
            <a:pPr indent="-50800" lvl="0" marL="228600" rtl="0" algn="l">
              <a:lnSpc>
                <a:spcPct val="90000"/>
              </a:lnSpc>
              <a:spcBef>
                <a:spcPts val="0"/>
              </a:spcBef>
              <a:spcAft>
                <a:spcPts val="0"/>
              </a:spcAft>
              <a:buClr>
                <a:schemeClr val="dk1"/>
              </a:buClr>
              <a:buSzPts val="2800"/>
              <a:buNone/>
            </a:pPr>
            <a:r>
              <a:rPr lang="en-CA"/>
              <a:t>Method used to publish is documented in our repository: </a:t>
            </a:r>
            <a:r>
              <a:rPr lang="en-CA" u="sng">
                <a:solidFill>
                  <a:schemeClr val="hlink"/>
                </a:solidFill>
                <a:hlinkClick r:id="rId5"/>
              </a:rPr>
              <a:t>OneStoryManyStars</a:t>
            </a:r>
            <a:r>
              <a:rPr lang="en-CA"/>
              <a:t> </a:t>
            </a:r>
            <a:endParaRPr/>
          </a:p>
          <a:p>
            <a:pPr indent="-50800" lvl="0" marL="228600" rtl="0" algn="l">
              <a:lnSpc>
                <a:spcPct val="90000"/>
              </a:lnSpc>
              <a:spcBef>
                <a:spcPts val="0"/>
              </a:spcBef>
              <a:spcAft>
                <a:spcPts val="0"/>
              </a:spcAft>
              <a:buClr>
                <a:schemeClr val="dk1"/>
              </a:buClr>
              <a:buSzPts val="2800"/>
              <a:buNone/>
            </a:pPr>
            <a:r>
              <a:t/>
            </a:r>
            <a:endParaRPr/>
          </a:p>
        </p:txBody>
      </p:sp>
      <p:pic>
        <p:nvPicPr>
          <p:cNvPr id="109" name="Google Shape;109;p4"/>
          <p:cNvPicPr preferRelativeResize="0"/>
          <p:nvPr/>
        </p:nvPicPr>
        <p:blipFill>
          <a:blip r:embed="rId6">
            <a:alphaModFix/>
          </a:blip>
          <a:stretch>
            <a:fillRect/>
          </a:stretch>
        </p:blipFill>
        <p:spPr>
          <a:xfrm>
            <a:off x="315900" y="112225"/>
            <a:ext cx="2363125" cy="1607275"/>
          </a:xfrm>
          <a:prstGeom prst="rect">
            <a:avLst/>
          </a:prstGeom>
          <a:noFill/>
          <a:ln>
            <a:noFill/>
          </a:ln>
        </p:spPr>
      </p:pic>
      <p:pic>
        <p:nvPicPr>
          <p:cNvPr id="110" name="Google Shape;110;p4" title="Screenshot 2025-10-05 at 7.21.21 PM.png"/>
          <p:cNvPicPr preferRelativeResize="0"/>
          <p:nvPr/>
        </p:nvPicPr>
        <p:blipFill rotWithShape="1">
          <a:blip r:embed="rId7">
            <a:alphaModFix/>
          </a:blip>
          <a:srcRect b="49" l="0" r="0" t="49"/>
          <a:stretch/>
        </p:blipFill>
        <p:spPr>
          <a:xfrm>
            <a:off x="6108350" y="2144525"/>
            <a:ext cx="5936476" cy="30117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CA"/>
              <a:t>Audience</a:t>
            </a:r>
            <a:endParaRPr/>
          </a:p>
        </p:txBody>
      </p:sp>
      <p:sp>
        <p:nvSpPr>
          <p:cNvPr id="116" name="Google Shape;116;p5"/>
          <p:cNvSpPr txBox="1"/>
          <p:nvPr>
            <p:ph idx="1" type="body"/>
          </p:nvPr>
        </p:nvSpPr>
        <p:spPr>
          <a:xfrm>
            <a:off x="838200" y="1825625"/>
            <a:ext cx="5615609" cy="4351338"/>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25000"/>
              </a:lnSpc>
              <a:spcBef>
                <a:spcPts val="0"/>
              </a:spcBef>
              <a:spcAft>
                <a:spcPts val="0"/>
              </a:spcAft>
              <a:buClr>
                <a:schemeClr val="dk1"/>
              </a:buClr>
              <a:buSzPts val="2000"/>
              <a:buNone/>
            </a:pPr>
            <a:r>
              <a:rPr lang="en-CA" sz="2000"/>
              <a:t>We made </a:t>
            </a:r>
            <a:r>
              <a:rPr lang="en-CA" sz="2000"/>
              <a:t>editorial</a:t>
            </a:r>
            <a:r>
              <a:rPr lang="en-CA" sz="2000"/>
              <a:t> choices to engage people from different </a:t>
            </a:r>
            <a:r>
              <a:rPr lang="en-CA" sz="2000"/>
              <a:t>backgrounds</a:t>
            </a:r>
            <a:r>
              <a:rPr lang="en-CA" sz="2000"/>
              <a:t> and interests:</a:t>
            </a:r>
            <a:endParaRPr/>
          </a:p>
          <a:p>
            <a:pPr indent="-238125" lvl="0" marL="228600" rtl="0" algn="l">
              <a:lnSpc>
                <a:spcPct val="125000"/>
              </a:lnSpc>
              <a:spcBef>
                <a:spcPts val="1000"/>
              </a:spcBef>
              <a:spcAft>
                <a:spcPts val="0"/>
              </a:spcAft>
              <a:buClr>
                <a:schemeClr val="dk1"/>
              </a:buClr>
              <a:buSzPts val="2000"/>
              <a:buChar char="•"/>
            </a:pPr>
            <a:r>
              <a:rPr lang="en-CA" sz="2000"/>
              <a:t>Gender-neutral characters</a:t>
            </a:r>
            <a:endParaRPr/>
          </a:p>
          <a:p>
            <a:pPr indent="-238125" lvl="0" marL="228600" rtl="0" algn="l">
              <a:lnSpc>
                <a:spcPct val="125000"/>
              </a:lnSpc>
              <a:spcBef>
                <a:spcPts val="1000"/>
              </a:spcBef>
              <a:spcAft>
                <a:spcPts val="0"/>
              </a:spcAft>
              <a:buClr>
                <a:schemeClr val="dk1"/>
              </a:buClr>
              <a:buSzPts val="2000"/>
              <a:buChar char="•"/>
            </a:pPr>
            <a:r>
              <a:rPr lang="en-CA" sz="2000"/>
              <a:t>Science themes </a:t>
            </a:r>
            <a:r>
              <a:rPr lang="en-CA" sz="2000"/>
              <a:t>calibrated</a:t>
            </a:r>
            <a:r>
              <a:rPr lang="en-CA" sz="2000"/>
              <a:t> for the level of a 10 year-old – terminology, technical depth</a:t>
            </a:r>
            <a:endParaRPr/>
          </a:p>
          <a:p>
            <a:pPr indent="-238125" lvl="0" marL="228600" rtl="0" algn="l">
              <a:lnSpc>
                <a:spcPct val="125000"/>
              </a:lnSpc>
              <a:spcBef>
                <a:spcPts val="1000"/>
              </a:spcBef>
              <a:spcAft>
                <a:spcPts val="0"/>
              </a:spcAft>
              <a:buClr>
                <a:schemeClr val="dk1"/>
              </a:buClr>
              <a:buSzPts val="2000"/>
              <a:buChar char="•"/>
            </a:pPr>
            <a:r>
              <a:rPr lang="en-CA" sz="2000"/>
              <a:t>Children curious about science, adult characters engage with them </a:t>
            </a:r>
            <a:endParaRPr/>
          </a:p>
          <a:p>
            <a:pPr indent="-238125" lvl="0" marL="228600" rtl="0" algn="l">
              <a:lnSpc>
                <a:spcPct val="125000"/>
              </a:lnSpc>
              <a:spcBef>
                <a:spcPts val="1000"/>
              </a:spcBef>
              <a:spcAft>
                <a:spcPts val="0"/>
              </a:spcAft>
              <a:buClr>
                <a:schemeClr val="dk1"/>
              </a:buClr>
              <a:buSzPts val="2000"/>
              <a:buChar char="•"/>
            </a:pPr>
            <a:r>
              <a:rPr lang="en-CA" sz="2000"/>
              <a:t>Researched approaches to include indigenous astronomy</a:t>
            </a:r>
            <a:endParaRPr/>
          </a:p>
          <a:p>
            <a:pPr indent="-238125" lvl="0" marL="228600" rtl="0" algn="l">
              <a:lnSpc>
                <a:spcPct val="125000"/>
              </a:lnSpc>
              <a:spcBef>
                <a:spcPts val="1000"/>
              </a:spcBef>
              <a:spcAft>
                <a:spcPts val="0"/>
              </a:spcAft>
              <a:buClr>
                <a:schemeClr val="dk1"/>
              </a:buClr>
              <a:buSzPts val="2000"/>
              <a:buChar char="•"/>
            </a:pPr>
            <a:r>
              <a:rPr lang="en-CA" sz="2000"/>
              <a:t>Included the impact not just on humans, but on wildlife as well</a:t>
            </a:r>
            <a:endParaRPr/>
          </a:p>
        </p:txBody>
      </p:sp>
      <p:pic>
        <p:nvPicPr>
          <p:cNvPr id="117" name="Google Shape;117;p5"/>
          <p:cNvPicPr preferRelativeResize="0"/>
          <p:nvPr/>
        </p:nvPicPr>
        <p:blipFill rotWithShape="1">
          <a:blip r:embed="rId3">
            <a:alphaModFix/>
          </a:blip>
          <a:srcRect b="0" l="0" r="0" t="0"/>
          <a:stretch/>
        </p:blipFill>
        <p:spPr>
          <a:xfrm>
            <a:off x="6730425" y="2930940"/>
            <a:ext cx="4623375" cy="2472221"/>
          </a:xfrm>
          <a:prstGeom prst="rect">
            <a:avLst/>
          </a:prstGeom>
          <a:noFill/>
          <a:ln>
            <a:noFill/>
          </a:ln>
        </p:spPr>
      </p:pic>
      <p:pic>
        <p:nvPicPr>
          <p:cNvPr id="118" name="Google Shape;118;p5"/>
          <p:cNvPicPr preferRelativeResize="0"/>
          <p:nvPr/>
        </p:nvPicPr>
        <p:blipFill rotWithShape="1">
          <a:blip r:embed="rId4">
            <a:alphaModFix/>
          </a:blip>
          <a:srcRect b="0" l="0" r="0" t="0"/>
          <a:stretch/>
        </p:blipFill>
        <p:spPr>
          <a:xfrm>
            <a:off x="8021966" y="5050158"/>
            <a:ext cx="3331834" cy="144271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CA"/>
              <a:t>Process</a:t>
            </a:r>
            <a:endParaRPr/>
          </a:p>
        </p:txBody>
      </p:sp>
      <p:grpSp>
        <p:nvGrpSpPr>
          <p:cNvPr id="124" name="Google Shape;124;p6"/>
          <p:cNvGrpSpPr/>
          <p:nvPr/>
        </p:nvGrpSpPr>
        <p:grpSpPr>
          <a:xfrm>
            <a:off x="839388" y="1631721"/>
            <a:ext cx="10140244" cy="1440903"/>
            <a:chOff x="1188" y="2497995"/>
            <a:chExt cx="10140244" cy="1440903"/>
          </a:xfrm>
        </p:grpSpPr>
        <p:sp>
          <p:nvSpPr>
            <p:cNvPr id="125" name="Google Shape;125;p6"/>
            <p:cNvSpPr/>
            <p:nvPr/>
          </p:nvSpPr>
          <p:spPr>
            <a:xfrm>
              <a:off x="1188" y="2497995"/>
              <a:ext cx="2986328" cy="1152722"/>
            </a:xfrm>
            <a:prstGeom prst="chevron">
              <a:avLst>
                <a:gd fmla="val 40000" name="adj"/>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6"/>
            <p:cNvSpPr/>
            <p:nvPr/>
          </p:nvSpPr>
          <p:spPr>
            <a:xfrm>
              <a:off x="797542" y="2786176"/>
              <a:ext cx="2521788" cy="1152722"/>
            </a:xfrm>
            <a:prstGeom prst="roundRect">
              <a:avLst>
                <a:gd fmla="val 10000" name="adj"/>
              </a:avLst>
            </a:prstGeom>
            <a:solidFill>
              <a:schemeClr val="lt1">
                <a:alpha val="89803"/>
              </a:schemeClr>
            </a:solidFill>
            <a:ln cap="flat" cmpd="sng" w="19050">
              <a:solidFill>
                <a:srgbClr val="12608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txBox="1"/>
            <p:nvPr/>
          </p:nvSpPr>
          <p:spPr>
            <a:xfrm>
              <a:off x="831304" y="2819938"/>
              <a:ext cx="2454264" cy="1085198"/>
            </a:xfrm>
            <a:prstGeom prst="rect">
              <a:avLst/>
            </a:prstGeom>
            <a:noFill/>
            <a:ln>
              <a:noFill/>
            </a:ln>
          </p:spPr>
          <p:txBody>
            <a:bodyPr anchorCtr="0" anchor="ctr" bIns="177800" lIns="177800" spcFirstLastPara="1" rIns="177800" wrap="square" tIns="177800">
              <a:noAutofit/>
            </a:bodyPr>
            <a:lstStyle/>
            <a:p>
              <a:pPr indent="0" lvl="0" marL="0" marR="0" rtl="0" algn="ctr">
                <a:lnSpc>
                  <a:spcPct val="90000"/>
                </a:lnSpc>
                <a:spcBef>
                  <a:spcPts val="0"/>
                </a:spcBef>
                <a:spcAft>
                  <a:spcPts val="0"/>
                </a:spcAft>
                <a:buClr>
                  <a:schemeClr val="dk1"/>
                </a:buClr>
                <a:buSzPts val="2500"/>
                <a:buFont typeface="Arial"/>
                <a:buNone/>
              </a:pPr>
              <a:r>
                <a:rPr b="0" i="0" lang="en-CA" sz="2500" u="none" cap="none" strike="noStrike">
                  <a:solidFill>
                    <a:schemeClr val="dk1"/>
                  </a:solidFill>
                  <a:latin typeface="Arial"/>
                  <a:ea typeface="Arial"/>
                  <a:cs typeface="Arial"/>
                  <a:sym typeface="Arial"/>
                </a:rPr>
                <a:t>Collect science facts</a:t>
              </a:r>
              <a:endParaRPr/>
            </a:p>
          </p:txBody>
        </p:sp>
        <p:sp>
          <p:nvSpPr>
            <p:cNvPr id="128" name="Google Shape;128;p6"/>
            <p:cNvSpPr/>
            <p:nvPr/>
          </p:nvSpPr>
          <p:spPr>
            <a:xfrm>
              <a:off x="3412239" y="2497995"/>
              <a:ext cx="2986328" cy="1152722"/>
            </a:xfrm>
            <a:prstGeom prst="chevron">
              <a:avLst>
                <a:gd fmla="val 40000" name="adj"/>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
            <p:cNvSpPr/>
            <p:nvPr/>
          </p:nvSpPr>
          <p:spPr>
            <a:xfrm>
              <a:off x="4208593" y="2786176"/>
              <a:ext cx="2521788" cy="1152722"/>
            </a:xfrm>
            <a:prstGeom prst="roundRect">
              <a:avLst>
                <a:gd fmla="val 10000" name="adj"/>
              </a:avLst>
            </a:prstGeom>
            <a:solidFill>
              <a:schemeClr val="lt1">
                <a:alpha val="89803"/>
              </a:schemeClr>
            </a:solidFill>
            <a:ln cap="flat" cmpd="sng" w="19050">
              <a:solidFill>
                <a:srgbClr val="12608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
            <p:cNvSpPr txBox="1"/>
            <p:nvPr/>
          </p:nvSpPr>
          <p:spPr>
            <a:xfrm>
              <a:off x="4242355" y="2819938"/>
              <a:ext cx="2454264" cy="1085198"/>
            </a:xfrm>
            <a:prstGeom prst="rect">
              <a:avLst/>
            </a:prstGeom>
            <a:noFill/>
            <a:ln>
              <a:noFill/>
            </a:ln>
          </p:spPr>
          <p:txBody>
            <a:bodyPr anchorCtr="0" anchor="ctr" bIns="177800" lIns="177800" spcFirstLastPara="1" rIns="177800" wrap="square" tIns="177800">
              <a:noAutofit/>
            </a:bodyPr>
            <a:lstStyle/>
            <a:p>
              <a:pPr indent="0" lvl="0" marL="0" marR="0" rtl="0" algn="ctr">
                <a:lnSpc>
                  <a:spcPct val="90000"/>
                </a:lnSpc>
                <a:spcBef>
                  <a:spcPts val="0"/>
                </a:spcBef>
                <a:spcAft>
                  <a:spcPts val="0"/>
                </a:spcAft>
                <a:buClr>
                  <a:schemeClr val="dk1"/>
                </a:buClr>
                <a:buSzPts val="2500"/>
                <a:buFont typeface="Arial"/>
                <a:buNone/>
              </a:pPr>
              <a:r>
                <a:rPr b="0" i="0" lang="en-CA" sz="2500" u="none" cap="none" strike="noStrike">
                  <a:solidFill>
                    <a:schemeClr val="dk1"/>
                  </a:solidFill>
                  <a:latin typeface="Arial"/>
                  <a:ea typeface="Arial"/>
                  <a:cs typeface="Arial"/>
                  <a:sym typeface="Arial"/>
                </a:rPr>
                <a:t>Create story</a:t>
              </a:r>
              <a:endParaRPr/>
            </a:p>
          </p:txBody>
        </p:sp>
        <p:sp>
          <p:nvSpPr>
            <p:cNvPr id="131" name="Google Shape;131;p6"/>
            <p:cNvSpPr/>
            <p:nvPr/>
          </p:nvSpPr>
          <p:spPr>
            <a:xfrm>
              <a:off x="6823289" y="2497995"/>
              <a:ext cx="2986328" cy="1152722"/>
            </a:xfrm>
            <a:prstGeom prst="chevron">
              <a:avLst>
                <a:gd fmla="val 40000" name="adj"/>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
            <p:cNvSpPr/>
            <p:nvPr/>
          </p:nvSpPr>
          <p:spPr>
            <a:xfrm>
              <a:off x="7619644" y="2786176"/>
              <a:ext cx="2521788" cy="1152722"/>
            </a:xfrm>
            <a:prstGeom prst="roundRect">
              <a:avLst>
                <a:gd fmla="val 10000" name="adj"/>
              </a:avLst>
            </a:prstGeom>
            <a:solidFill>
              <a:schemeClr val="lt1">
                <a:alpha val="89803"/>
              </a:schemeClr>
            </a:solidFill>
            <a:ln cap="flat" cmpd="sng" w="19050">
              <a:solidFill>
                <a:srgbClr val="12608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
            <p:cNvSpPr txBox="1"/>
            <p:nvPr/>
          </p:nvSpPr>
          <p:spPr>
            <a:xfrm>
              <a:off x="7653406" y="2819938"/>
              <a:ext cx="2454264" cy="1085198"/>
            </a:xfrm>
            <a:prstGeom prst="rect">
              <a:avLst/>
            </a:prstGeom>
            <a:noFill/>
            <a:ln>
              <a:noFill/>
            </a:ln>
          </p:spPr>
          <p:txBody>
            <a:bodyPr anchorCtr="0" anchor="ctr" bIns="177800" lIns="177800" spcFirstLastPara="1" rIns="177800" wrap="square" tIns="177800">
              <a:noAutofit/>
            </a:bodyPr>
            <a:lstStyle/>
            <a:p>
              <a:pPr indent="0" lvl="0" marL="0" marR="0" rtl="0" algn="ctr">
                <a:lnSpc>
                  <a:spcPct val="90000"/>
                </a:lnSpc>
                <a:spcBef>
                  <a:spcPts val="0"/>
                </a:spcBef>
                <a:spcAft>
                  <a:spcPts val="0"/>
                </a:spcAft>
                <a:buClr>
                  <a:schemeClr val="dk1"/>
                </a:buClr>
                <a:buSzPts val="2500"/>
                <a:buFont typeface="Arial"/>
                <a:buNone/>
              </a:pPr>
              <a:r>
                <a:rPr b="0" i="0" lang="en-CA" sz="2500" u="none" cap="none" strike="noStrike">
                  <a:solidFill>
                    <a:schemeClr val="dk1"/>
                  </a:solidFill>
                  <a:latin typeface="Arial"/>
                  <a:ea typeface="Arial"/>
                  <a:cs typeface="Arial"/>
                  <a:sym typeface="Arial"/>
                </a:rPr>
                <a:t>Assemble book &amp; publish</a:t>
              </a:r>
              <a:endParaRPr/>
            </a:p>
          </p:txBody>
        </p:sp>
      </p:grpSp>
      <p:pic>
        <p:nvPicPr>
          <p:cNvPr id="134" name="Google Shape;134;p6"/>
          <p:cNvPicPr preferRelativeResize="0"/>
          <p:nvPr>
            <p:ph idx="1" type="body"/>
          </p:nvPr>
        </p:nvPicPr>
        <p:blipFill rotWithShape="1">
          <a:blip r:embed="rId3">
            <a:alphaModFix/>
          </a:blip>
          <a:srcRect b="0" l="0" r="0" t="0"/>
          <a:stretch/>
        </p:blipFill>
        <p:spPr>
          <a:xfrm>
            <a:off x="838200" y="3204655"/>
            <a:ext cx="3300663" cy="1835471"/>
          </a:xfrm>
          <a:prstGeom prst="rect">
            <a:avLst/>
          </a:prstGeom>
          <a:noFill/>
          <a:ln>
            <a:noFill/>
          </a:ln>
        </p:spPr>
      </p:pic>
      <p:pic>
        <p:nvPicPr>
          <p:cNvPr id="135" name="Google Shape;135;p6"/>
          <p:cNvPicPr preferRelativeResize="0"/>
          <p:nvPr/>
        </p:nvPicPr>
        <p:blipFill rotWithShape="1">
          <a:blip r:embed="rId4">
            <a:alphaModFix/>
          </a:blip>
          <a:srcRect b="0" l="0" r="0" t="0"/>
          <a:stretch/>
        </p:blipFill>
        <p:spPr>
          <a:xfrm>
            <a:off x="2700549" y="3657158"/>
            <a:ext cx="5988797" cy="2089449"/>
          </a:xfrm>
          <a:prstGeom prst="rect">
            <a:avLst/>
          </a:prstGeom>
          <a:noFill/>
          <a:ln>
            <a:noFill/>
          </a:ln>
        </p:spPr>
      </p:pic>
      <p:pic>
        <p:nvPicPr>
          <p:cNvPr id="136" name="Google Shape;136;p6"/>
          <p:cNvPicPr preferRelativeResize="0"/>
          <p:nvPr/>
        </p:nvPicPr>
        <p:blipFill rotWithShape="1">
          <a:blip r:embed="rId5">
            <a:alphaModFix/>
          </a:blip>
          <a:srcRect b="0" l="0" r="0" t="0"/>
          <a:stretch/>
        </p:blipFill>
        <p:spPr>
          <a:xfrm>
            <a:off x="7251032" y="4152127"/>
            <a:ext cx="4102768" cy="234074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CA"/>
              <a:t>References</a:t>
            </a:r>
            <a:endParaRPr/>
          </a:p>
        </p:txBody>
      </p:sp>
      <p:sp>
        <p:nvSpPr>
          <p:cNvPr id="142" name="Google Shape;142;p7"/>
          <p:cNvSpPr txBox="1"/>
          <p:nvPr/>
        </p:nvSpPr>
        <p:spPr>
          <a:xfrm>
            <a:off x="838200" y="1826242"/>
            <a:ext cx="4327410" cy="1990801"/>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b="0" i="0" lang="en-CA" sz="2000" u="none" cap="none" strike="noStrike">
                <a:solidFill>
                  <a:schemeClr val="dk1"/>
                </a:solidFill>
                <a:latin typeface="Arial"/>
                <a:ea typeface="Arial"/>
                <a:cs typeface="Arial"/>
                <a:sym typeface="Arial"/>
              </a:rPr>
              <a:t>We used the resources from the NASA Space Apps Challenge web site as well as Canadian Space Agency web sites to source science facts to structure the story around.</a:t>
            </a:r>
            <a:endParaRPr/>
          </a:p>
        </p:txBody>
      </p:sp>
      <p:pic>
        <p:nvPicPr>
          <p:cNvPr id="143" name="Google Shape;143;p7"/>
          <p:cNvPicPr preferRelativeResize="0"/>
          <p:nvPr/>
        </p:nvPicPr>
        <p:blipFill rotWithShape="1">
          <a:blip r:embed="rId3">
            <a:alphaModFix/>
          </a:blip>
          <a:srcRect b="0" l="0" r="33767" t="11854"/>
          <a:stretch/>
        </p:blipFill>
        <p:spPr>
          <a:xfrm>
            <a:off x="5165610" y="1689604"/>
            <a:ext cx="5811147" cy="460151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CA"/>
              <a:t>References</a:t>
            </a:r>
            <a:endParaRPr/>
          </a:p>
        </p:txBody>
      </p:sp>
      <p:pic>
        <p:nvPicPr>
          <p:cNvPr id="149" name="Google Shape;149;p8"/>
          <p:cNvPicPr preferRelativeResize="0"/>
          <p:nvPr/>
        </p:nvPicPr>
        <p:blipFill rotWithShape="1">
          <a:blip r:embed="rId3">
            <a:alphaModFix/>
          </a:blip>
          <a:srcRect b="-435" l="-896" r="897" t="12346"/>
          <a:stretch/>
        </p:blipFill>
        <p:spPr>
          <a:xfrm>
            <a:off x="5352361" y="1825200"/>
            <a:ext cx="5364119" cy="4481728"/>
          </a:xfrm>
          <a:prstGeom prst="rect">
            <a:avLst/>
          </a:prstGeom>
          <a:noFill/>
          <a:ln>
            <a:noFill/>
          </a:ln>
        </p:spPr>
      </p:pic>
      <p:sp>
        <p:nvSpPr>
          <p:cNvPr id="150" name="Google Shape;150;p8"/>
          <p:cNvSpPr txBox="1"/>
          <p:nvPr/>
        </p:nvSpPr>
        <p:spPr>
          <a:xfrm>
            <a:off x="838200" y="1825200"/>
            <a:ext cx="3708400" cy="1990801"/>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b="0" i="0" lang="en-CA" sz="2000" u="none" cap="none" strike="noStrike">
                <a:solidFill>
                  <a:schemeClr val="dk1"/>
                </a:solidFill>
                <a:latin typeface="Arial"/>
                <a:ea typeface="Arial"/>
                <a:cs typeface="Arial"/>
                <a:sym typeface="Arial"/>
              </a:rPr>
              <a:t>We used the Ontario science curriculum to guide our choices about what kinds of facts to include and what kinds of details to include.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2025-10-05T21:33:23Z</dcterms:created>
  <dc:creator>S P</dc:creator>
</cp:coreProperties>
</file>